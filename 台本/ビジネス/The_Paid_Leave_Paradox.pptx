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メイリオ"/>
              </a:defRPr>
            </a:pPr>
            <a:r>
              <a:t>実態の声から読み解く 「有給休暇取得」のパラドックス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メイリオ"/>
              </a:defRPr>
            </a:pPr>
            <a:r>
              <a:t>現代日本の組織における 「価値観の分断」と「調整スキル」の欠如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メイリオ"/>
              </a:defRPr>
            </a:pPr>
            <a:r>
              <a:t>組織開発インテリジェンス・レポート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E6B9E"/>
                </a:solidFill>
                <a:latin typeface="メイリオ"/>
              </a:defRPr>
            </a:pPr>
            <a:r>
              <a:t>The Sentiment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22222"/>
                </a:solidFill>
                <a:latin typeface="メイリオ"/>
              </a:defRPr>
            </a:pPr>
            <a:r>
              <a:t>義務化が進む裏で、</a:t>
            </a:r>
            <a:br/>
            <a:r>
              <a:t>現場に取り残された「生々しい本音」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メイリオ"/>
              </a:defRPr>
            </a:pPr>
            <a:r>
              <a:t>【声 A】昭和・平成期には、適宜有給休暇を取得しないと解雇されることもあった。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210312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メイリオ"/>
              </a:defRPr>
            </a:pPr>
            <a:r>
              <a:t>【声 B】有給……？ 勤続二十数年になるが、取得した記憶にない。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メイリオ"/>
              </a:defRPr>
            </a:pPr>
            <a:r>
              <a:t>【声 C】付与日数を失効させても、得になるわけではない。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33756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メイリオ"/>
              </a:defRPr>
            </a:pPr>
            <a:r>
              <a:t>【声 D】周囲が努力しているのに、平然と休むことができるのか。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A2744"/>
                </a:solidFill>
                <a:latin typeface="メイリオ"/>
              </a:defRPr>
            </a:pPr>
            <a:r>
              <a:t>制度が整っても、現場の「心理的安全性」と「価値観」は依然として分断されている。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メイリオ"/>
              </a:defRPr>
            </a:pPr>
            <a:r>
              <a:t>合理的視点：未消化の有給休暇は「機会損失」である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E6B9E"/>
                </a:solidFill>
                <a:latin typeface="メイリオ"/>
              </a:defRPr>
            </a:pPr>
            <a:r>
              <a:t>「有給休暇10日を失効させれば、金額にしても10万円以上の損失であり、本来得られるはずだった自由時間も失われる。極めてもったいない。」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メイリオ"/>
              </a:defRPr>
            </a:pPr>
            <a:r>
              <a:t>自由時間の消滅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5303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メイリオ"/>
              </a:defRPr>
            </a:pPr>
            <a:r>
              <a:t>本来の権利であるはずのリフレッシュ期間の喪失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3774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メイリオ"/>
              </a:defRPr>
            </a:pPr>
            <a:r>
              <a:t>経済的損失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743200"/>
            <a:ext cx="5303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メイリオ"/>
              </a:defRPr>
            </a:pPr>
            <a:r>
              <a:t>給与換算で年間10万円以上に相当する労働価値の放棄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7150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メイリオ"/>
              </a:defRPr>
            </a:pPr>
            <a:r>
              <a:t>合理的アプローチ（現代的マインド）から見れば、有給休暇を放棄する行為は極めて非論理的である。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メイリオ"/>
              </a:defRPr>
            </a:pPr>
            <a:r>
              <a:t>感情的・伝統的視点：行動を阻む「見えないブレーキ」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E6B9E"/>
                </a:solidFill>
                <a:latin typeface="メイリオ"/>
              </a:defRPr>
            </a:pPr>
            <a:r>
              <a:t>同調圧力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メイリオ"/>
              </a:defRPr>
            </a:pPr>
            <a:r>
              <a:t>「周囲が努力しているにもかかわらず、平然と休むことができるのか」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E6B9E"/>
                </a:solidFill>
                <a:latin typeface="メイリオ"/>
              </a:defRPr>
            </a:pPr>
            <a:r>
              <a:t>過去のトラウマ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メイリオ"/>
              </a:defRPr>
            </a:pPr>
            <a:r>
              <a:t>「昭和・平成期には、適宜取得しなければ解雇される事例もあった。その感覚が残り、取得をためらう者もいる」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E6B9E"/>
                </a:solidFill>
                <a:latin typeface="メイリオ"/>
              </a:defRPr>
            </a:pPr>
            <a:r>
              <a:t>組織への過剰配慮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メイリオ"/>
              </a:defRPr>
            </a:pPr>
            <a:r>
              <a:t>「有給休暇を取得すると、同僚や取引先に負担をかけるのではないか」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メイリオ"/>
              </a:defRPr>
            </a:pPr>
            <a:r>
              <a:t>insight: 単なる「ためらい」ではなく、過去の労働環境が植え付けた「生存戦略」の名残りがブレーキとなっている。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メイリオ"/>
              </a:defRPr>
            </a:pPr>
            <a:r>
              <a:t>現場の極端な現実と、企業の「苦肉の策」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2222"/>
                </a:solidFill>
                <a:latin typeface="メイリオ"/>
              </a:defRPr>
            </a:pPr>
            <a:r>
              <a:t>無法地帯（法令形骸化）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035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メイリオ"/>
              </a:defRPr>
            </a:pPr>
            <a:r>
              <a:t>「労働基準法が適用されていない」と説明された。</a:t>
            </a:r>
            <a:br/>
            <a:r>
              <a:t>新型コロナウイルス感染時を除き、日曜・祝日以外に休んだことがない。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5303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メイリオ"/>
              </a:defRPr>
            </a:pPr>
            <a:r>
              <a:t>法令が形骸化し、気合と根性のみが支配するレガシー環境。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2222"/>
                </a:solidFill>
                <a:latin typeface="メイリオ"/>
              </a:defRPr>
            </a:pPr>
            <a:r>
              <a:t>強制適合ゾーン（計画的付与・強制連休）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17320"/>
            <a:ext cx="53035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メイリオ"/>
              </a:defRPr>
            </a:pPr>
            <a:r>
              <a:t>「多く取得されると業務に支障があるため、年5日分の取得のみ指示された」。</a:t>
            </a:r>
            <a:br/>
            <a:r>
              <a:t>「会社指示で4月30日〜5月2日を有給で取得し、その前後は通常勤務とされた」。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200400"/>
            <a:ext cx="5303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メイリオ"/>
              </a:defRPr>
            </a:pPr>
            <a:r>
              <a:t>業務調整の根本解決を避け、トップダウンで「休ませるアリバイ」を作る防衛策。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222"/>
                </a:solidFill>
                <a:latin typeface="メイリオ"/>
              </a:defRPr>
            </a:pPr>
            <a:r>
              <a:t>【比較マトリクス】職場に摩擦を生む「価値観の分断」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22222"/>
                </a:solidFill>
                <a:latin typeface="メイリオ"/>
              </a:defRPr>
            </a:pPr>
            <a:r>
              <a:t>休むことへの評価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1188720"/>
            <a:ext cx="4389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メイリオ"/>
              </a:defRPr>
            </a:pPr>
            <a:r>
              <a:t>権利の行使として合理的。「給与を得ながら休めるのに取得しないのは非合理的である」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188720"/>
            <a:ext cx="4389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メイリオ"/>
              </a:defRPr>
            </a:pPr>
            <a:r>
              <a:t>怠慢や周囲への配慮欠如とみなされやすい。「周囲が努力しているのに、平然と休むことができるのか」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22222"/>
                </a:solidFill>
                <a:latin typeface="メイリオ"/>
              </a:defRPr>
            </a:pPr>
            <a:r>
              <a:t>労働の動機づけ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606040"/>
            <a:ext cx="4389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メイリオ"/>
              </a:defRPr>
            </a:pPr>
            <a:r>
              <a:t>契約と対価（損益の見極め）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606040"/>
            <a:ext cx="4389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メイリオ"/>
              </a:defRPr>
            </a:pPr>
            <a:r>
              <a:t>組織への忠誠と自己犠牲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22222"/>
                </a:solidFill>
                <a:latin typeface="メイリオ"/>
              </a:defRPr>
            </a:pPr>
            <a:r>
              <a:t>会社からの視線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4023360"/>
            <a:ext cx="4389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メイリオ"/>
              </a:defRPr>
            </a:pPr>
            <a:r>
              <a:t>義務を果たせば自由に休める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023360"/>
            <a:ext cx="4389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メイリオ"/>
              </a:defRPr>
            </a:pPr>
            <a:r>
              <a:t>休むことで評価が下がる（解雇への不安の残滓）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メイリオ"/>
              </a:defRPr>
            </a:pPr>
            <a:r>
              <a:t>パラダイムシフト：それは「価値観」ではなく「スキル」の問題である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828800"/>
            <a:ext cx="850392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148840"/>
            <a:ext cx="8138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A2744"/>
                </a:solidFill>
                <a:latin typeface="メイリオ"/>
              </a:defRPr>
            </a:pPr>
            <a:r>
              <a:t>休めない要因は、当事者の選択や覚悟の問題ではなく、</a:t>
            </a:r>
            <a:br/>
            <a:r>
              <a:t>業務調整における能力不足の表れである場合がある。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メイリオ"/>
              </a:defRPr>
            </a:pPr>
            <a:r>
              <a:t>有給休暇の取得を妨げている本質は、「休む勇気」や「職場の空気」単体では説明しきれない。</a:t>
            </a:r>
            <a:br/>
            <a:r>
              <a:t>自身が不在でも業務が継続するよう段取りを組む「業務調整ケイパビリティ（能力）」の不足が、取得を阻む要因となりうる。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222"/>
                </a:solidFill>
                <a:latin typeface="メイリオ"/>
              </a:defRPr>
            </a:pPr>
            <a:r>
              <a:t>【総合整理】有給休暇取得における「3つの人材タイプ」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メイリオ"/>
              </a:defRPr>
            </a:pPr>
            <a:r>
              <a:t>調整して休む計画を立てられる者、調整に課題がある者、調整を経ずに休む者が混在する。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メイリオ"/>
              </a:defRPr>
            </a:pPr>
            <a:r>
              <a:t>自律型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5303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メイリオ"/>
              </a:defRPr>
            </a:pPr>
            <a:r>
              <a:t>調整して休む計画を立てられる。業務の属人化を防ぎ、周囲と協調しながら計画的に権利を行使する。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E6B9E"/>
                </a:solidFill>
                <a:latin typeface="メイリオ"/>
              </a:defRPr>
            </a:pPr>
            <a:r>
              <a:t>依存型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94560"/>
            <a:ext cx="5303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メイリオ"/>
              </a:defRPr>
            </a:pPr>
            <a:r>
              <a:t>調整に課題がある。取得をためらう背景に、業務の属人化や調整コストへの回避が絡む場合がある。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04444"/>
                </a:solidFill>
                <a:latin typeface="メイリオ"/>
              </a:defRPr>
            </a:pPr>
            <a:r>
              <a:t>破壊型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メイリオ"/>
              </a:defRPr>
            </a:pPr>
            <a:r>
              <a:t>調整を経ずに休む。周囲への影響を十分に考慮せず、突発的・一方的に休むと、チーム運営に大きな負荷を与えうる。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222"/>
                </a:solidFill>
                <a:latin typeface="メイリオ"/>
              </a:defRPr>
            </a:pPr>
            <a:r>
              <a:t>結論：有給休暇の消化は「福利厚生」ではなく「マネジメント指標」である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E6B9E"/>
                </a:solidFill>
                <a:latin typeface="メイリオ"/>
              </a:defRPr>
            </a:pPr>
            <a:r>
              <a:t>「部下への規範となるよう、計画的に有給休暇を取得してください」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2744"/>
                </a:solidFill>
                <a:latin typeface="メイリオ"/>
              </a:defRPr>
            </a:pPr>
            <a:r>
              <a:t>STEP 1 属人化の排除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40280"/>
            <a:ext cx="3474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メイリオ"/>
              </a:defRPr>
            </a:pPr>
            <a:r>
              <a:t>チーム内で「誰が休んでも業務が回る」仕組みを構築する。有給休暇消化率は、「業務の標準化レベル」を示す指標になりうる。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92024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2744"/>
                </a:solidFill>
                <a:latin typeface="メイリオ"/>
              </a:defRPr>
            </a:pPr>
            <a:r>
              <a:t>STEP 2 リーダーの率先垂範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240280"/>
            <a:ext cx="3474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メイリオ"/>
              </a:defRPr>
            </a:pPr>
            <a:r>
              <a:t>マネジメント層が「調整して休む（自律型）」姿を示し、過度な同調圧力を緩和する。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92024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2744"/>
                </a:solidFill>
                <a:latin typeface="メイリオ"/>
              </a:defRPr>
            </a:pPr>
            <a:r>
              <a:t>STEP 3 評価軸の転換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240280"/>
            <a:ext cx="3474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メイリオ"/>
              </a:defRPr>
            </a:pPr>
            <a:r>
              <a:t>「休まず働くこと」より、「休むための調整力」を高く評価する文化を育てる。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53212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メイリオ"/>
              </a:defRPr>
            </a:pPr>
            <a:r>
              <a:t>「計画的な有給休暇の取得が、組織と個人の双方にとって望ましい」という認識を共有することが、現代のリーダーシップである。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